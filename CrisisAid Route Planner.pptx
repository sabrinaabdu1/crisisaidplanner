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2F5874-2BD1-40D7-9305-70097CF57FE7}" v="35" dt="2026-05-01T14:49:27.032"/>
    <p1510:client id="{F5BC188D-92D2-3DF3-59BD-0B095903A497}" v="51" dt="2026-05-01T14:49:36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F876E4-A1CC-40BA-AB2E-1CBCE3C8DA9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96CDDF-9FCB-4A13-92CC-E5ADFEC094F8}">
      <dgm:prSet/>
      <dgm:spPr/>
      <dgm:t>
        <a:bodyPr/>
        <a:lstStyle/>
        <a:p>
          <a:r>
            <a:rPr lang="en-US"/>
            <a:t>The project demonstrates route optimization using Dijkstra’s Algorithm. </a:t>
          </a:r>
        </a:p>
      </dgm:t>
    </dgm:pt>
    <dgm:pt modelId="{9B19C9DB-F2B3-405B-8E00-9925BD821B1A}" type="parTrans" cxnId="{02B43584-6F27-4D4B-9923-64FCDFAEC9D1}">
      <dgm:prSet/>
      <dgm:spPr/>
      <dgm:t>
        <a:bodyPr/>
        <a:lstStyle/>
        <a:p>
          <a:endParaRPr lang="en-US"/>
        </a:p>
      </dgm:t>
    </dgm:pt>
    <dgm:pt modelId="{4E84DAA5-8035-46C6-8535-043F5E684636}" type="sibTrans" cxnId="{02B43584-6F27-4D4B-9923-64FCDFAEC9D1}">
      <dgm:prSet/>
      <dgm:spPr/>
      <dgm:t>
        <a:bodyPr/>
        <a:lstStyle/>
        <a:p>
          <a:endParaRPr lang="en-US"/>
        </a:p>
      </dgm:t>
    </dgm:pt>
    <dgm:pt modelId="{CB627B54-9EBD-4DEB-B4CA-64A61B929811}">
      <dgm:prSet/>
      <dgm:spPr/>
      <dgm:t>
        <a:bodyPr/>
        <a:lstStyle/>
        <a:p>
          <a:r>
            <a:rPr lang="en-US"/>
            <a:t>It finds the most efficient path between locations. </a:t>
          </a:r>
        </a:p>
      </dgm:t>
    </dgm:pt>
    <dgm:pt modelId="{022C20B1-4B50-4715-A9EE-489FCE106122}" type="parTrans" cxnId="{885D6109-8AC1-463C-A939-B85FB6190413}">
      <dgm:prSet/>
      <dgm:spPr/>
      <dgm:t>
        <a:bodyPr/>
        <a:lstStyle/>
        <a:p>
          <a:endParaRPr lang="en-US"/>
        </a:p>
      </dgm:t>
    </dgm:pt>
    <dgm:pt modelId="{6395B80A-2FFA-4C29-82D1-CBDA377C8738}" type="sibTrans" cxnId="{885D6109-8AC1-463C-A939-B85FB6190413}">
      <dgm:prSet/>
      <dgm:spPr/>
      <dgm:t>
        <a:bodyPr/>
        <a:lstStyle/>
        <a:p>
          <a:endParaRPr lang="en-US"/>
        </a:p>
      </dgm:t>
    </dgm:pt>
    <dgm:pt modelId="{A6F51262-C727-418A-8A45-0C598DA8A154}">
      <dgm:prSet/>
      <dgm:spPr/>
      <dgm:t>
        <a:bodyPr/>
        <a:lstStyle/>
        <a:p>
          <a:r>
            <a:rPr lang="en-US"/>
            <a:t>It shows how algorithms can support better decision-making in emergencies.</a:t>
          </a:r>
        </a:p>
      </dgm:t>
    </dgm:pt>
    <dgm:pt modelId="{32B8BFDA-4BB4-4C49-8E85-1A975C9812FB}" type="parTrans" cxnId="{072D7F8A-10FB-4053-BD53-AD215E53B0F6}">
      <dgm:prSet/>
      <dgm:spPr/>
      <dgm:t>
        <a:bodyPr/>
        <a:lstStyle/>
        <a:p>
          <a:endParaRPr lang="en-US"/>
        </a:p>
      </dgm:t>
    </dgm:pt>
    <dgm:pt modelId="{6FACEA24-3DDE-4457-9C12-1AF31F3AADF7}" type="sibTrans" cxnId="{072D7F8A-10FB-4053-BD53-AD215E53B0F6}">
      <dgm:prSet/>
      <dgm:spPr/>
      <dgm:t>
        <a:bodyPr/>
        <a:lstStyle/>
        <a:p>
          <a:endParaRPr lang="en-US"/>
        </a:p>
      </dgm:t>
    </dgm:pt>
    <dgm:pt modelId="{2605AE6E-2301-465A-BBCD-850063568CB1}" type="pres">
      <dgm:prSet presAssocID="{0BF876E4-A1CC-40BA-AB2E-1CBCE3C8DA9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41FC81A-6DD7-47E0-840C-E256341C2107}" type="pres">
      <dgm:prSet presAssocID="{1A96CDDF-9FCB-4A13-92CC-E5ADFEC094F8}" presName="hierRoot1" presStyleCnt="0"/>
      <dgm:spPr/>
    </dgm:pt>
    <dgm:pt modelId="{37D5D5D7-4E1C-4C01-AA8C-E1E747C37A36}" type="pres">
      <dgm:prSet presAssocID="{1A96CDDF-9FCB-4A13-92CC-E5ADFEC094F8}" presName="composite" presStyleCnt="0"/>
      <dgm:spPr/>
    </dgm:pt>
    <dgm:pt modelId="{757C90DA-E4E7-46FC-809C-3E0C671BBC1A}" type="pres">
      <dgm:prSet presAssocID="{1A96CDDF-9FCB-4A13-92CC-E5ADFEC094F8}" presName="background" presStyleLbl="node0" presStyleIdx="0" presStyleCnt="3"/>
      <dgm:spPr/>
    </dgm:pt>
    <dgm:pt modelId="{229D9479-D9BA-42DA-96E0-8D58E6B9FA5A}" type="pres">
      <dgm:prSet presAssocID="{1A96CDDF-9FCB-4A13-92CC-E5ADFEC094F8}" presName="text" presStyleLbl="fgAcc0" presStyleIdx="0" presStyleCnt="3">
        <dgm:presLayoutVars>
          <dgm:chPref val="3"/>
        </dgm:presLayoutVars>
      </dgm:prSet>
      <dgm:spPr/>
    </dgm:pt>
    <dgm:pt modelId="{46104C53-186E-4AEA-BB05-DA8D8DA2ED7F}" type="pres">
      <dgm:prSet presAssocID="{1A96CDDF-9FCB-4A13-92CC-E5ADFEC094F8}" presName="hierChild2" presStyleCnt="0"/>
      <dgm:spPr/>
    </dgm:pt>
    <dgm:pt modelId="{A9CAE2EC-FB02-4948-9242-53AE4423531B}" type="pres">
      <dgm:prSet presAssocID="{CB627B54-9EBD-4DEB-B4CA-64A61B929811}" presName="hierRoot1" presStyleCnt="0"/>
      <dgm:spPr/>
    </dgm:pt>
    <dgm:pt modelId="{2D80890E-3AD7-43AB-9F39-F38AAA4F5988}" type="pres">
      <dgm:prSet presAssocID="{CB627B54-9EBD-4DEB-B4CA-64A61B929811}" presName="composite" presStyleCnt="0"/>
      <dgm:spPr/>
    </dgm:pt>
    <dgm:pt modelId="{C8B8C75F-06D0-462F-82E9-A168245E56A2}" type="pres">
      <dgm:prSet presAssocID="{CB627B54-9EBD-4DEB-B4CA-64A61B929811}" presName="background" presStyleLbl="node0" presStyleIdx="1" presStyleCnt="3"/>
      <dgm:spPr/>
    </dgm:pt>
    <dgm:pt modelId="{AD69CA59-B442-455E-9039-6012E1D3B277}" type="pres">
      <dgm:prSet presAssocID="{CB627B54-9EBD-4DEB-B4CA-64A61B929811}" presName="text" presStyleLbl="fgAcc0" presStyleIdx="1" presStyleCnt="3">
        <dgm:presLayoutVars>
          <dgm:chPref val="3"/>
        </dgm:presLayoutVars>
      </dgm:prSet>
      <dgm:spPr/>
    </dgm:pt>
    <dgm:pt modelId="{B88E180A-070A-4753-B20F-EA3EFAEAA617}" type="pres">
      <dgm:prSet presAssocID="{CB627B54-9EBD-4DEB-B4CA-64A61B929811}" presName="hierChild2" presStyleCnt="0"/>
      <dgm:spPr/>
    </dgm:pt>
    <dgm:pt modelId="{9658D1F1-DBB9-4EF4-BA86-9793200BCAF3}" type="pres">
      <dgm:prSet presAssocID="{A6F51262-C727-418A-8A45-0C598DA8A154}" presName="hierRoot1" presStyleCnt="0"/>
      <dgm:spPr/>
    </dgm:pt>
    <dgm:pt modelId="{8F10B64A-66C2-4A5D-B1FB-2177DB8437B0}" type="pres">
      <dgm:prSet presAssocID="{A6F51262-C727-418A-8A45-0C598DA8A154}" presName="composite" presStyleCnt="0"/>
      <dgm:spPr/>
    </dgm:pt>
    <dgm:pt modelId="{BA8297B1-7F56-4FD5-AACA-FFAB8FF97674}" type="pres">
      <dgm:prSet presAssocID="{A6F51262-C727-418A-8A45-0C598DA8A154}" presName="background" presStyleLbl="node0" presStyleIdx="2" presStyleCnt="3"/>
      <dgm:spPr/>
    </dgm:pt>
    <dgm:pt modelId="{5F1F1433-D9D0-4B42-AF29-FA5EFE3209D6}" type="pres">
      <dgm:prSet presAssocID="{A6F51262-C727-418A-8A45-0C598DA8A154}" presName="text" presStyleLbl="fgAcc0" presStyleIdx="2" presStyleCnt="3">
        <dgm:presLayoutVars>
          <dgm:chPref val="3"/>
        </dgm:presLayoutVars>
      </dgm:prSet>
      <dgm:spPr/>
    </dgm:pt>
    <dgm:pt modelId="{36DF66C6-9F9A-4E25-A8BA-53E9BA951E94}" type="pres">
      <dgm:prSet presAssocID="{A6F51262-C727-418A-8A45-0C598DA8A154}" presName="hierChild2" presStyleCnt="0"/>
      <dgm:spPr/>
    </dgm:pt>
  </dgm:ptLst>
  <dgm:cxnLst>
    <dgm:cxn modelId="{885D6109-8AC1-463C-A939-B85FB6190413}" srcId="{0BF876E4-A1CC-40BA-AB2E-1CBCE3C8DA9E}" destId="{CB627B54-9EBD-4DEB-B4CA-64A61B929811}" srcOrd="1" destOrd="0" parTransId="{022C20B1-4B50-4715-A9EE-489FCE106122}" sibTransId="{6395B80A-2FFA-4C29-82D1-CBDA377C8738}"/>
    <dgm:cxn modelId="{38D47A62-7FAB-4EF9-932E-ABCC2BF38EA9}" type="presOf" srcId="{0BF876E4-A1CC-40BA-AB2E-1CBCE3C8DA9E}" destId="{2605AE6E-2301-465A-BBCD-850063568CB1}" srcOrd="0" destOrd="0" presId="urn:microsoft.com/office/officeart/2005/8/layout/hierarchy1"/>
    <dgm:cxn modelId="{1F2EBA73-A3C5-4B46-8B0B-208E1081B7B0}" type="presOf" srcId="{CB627B54-9EBD-4DEB-B4CA-64A61B929811}" destId="{AD69CA59-B442-455E-9039-6012E1D3B277}" srcOrd="0" destOrd="0" presId="urn:microsoft.com/office/officeart/2005/8/layout/hierarchy1"/>
    <dgm:cxn modelId="{24A28C79-CB25-42F1-9FF5-CB062287B164}" type="presOf" srcId="{A6F51262-C727-418A-8A45-0C598DA8A154}" destId="{5F1F1433-D9D0-4B42-AF29-FA5EFE3209D6}" srcOrd="0" destOrd="0" presId="urn:microsoft.com/office/officeart/2005/8/layout/hierarchy1"/>
    <dgm:cxn modelId="{02B43584-6F27-4D4B-9923-64FCDFAEC9D1}" srcId="{0BF876E4-A1CC-40BA-AB2E-1CBCE3C8DA9E}" destId="{1A96CDDF-9FCB-4A13-92CC-E5ADFEC094F8}" srcOrd="0" destOrd="0" parTransId="{9B19C9DB-F2B3-405B-8E00-9925BD821B1A}" sibTransId="{4E84DAA5-8035-46C6-8535-043F5E684636}"/>
    <dgm:cxn modelId="{072D7F8A-10FB-4053-BD53-AD215E53B0F6}" srcId="{0BF876E4-A1CC-40BA-AB2E-1CBCE3C8DA9E}" destId="{A6F51262-C727-418A-8A45-0C598DA8A154}" srcOrd="2" destOrd="0" parTransId="{32B8BFDA-4BB4-4C49-8E85-1A975C9812FB}" sibTransId="{6FACEA24-3DDE-4457-9C12-1AF31F3AADF7}"/>
    <dgm:cxn modelId="{6D11EEAF-0FB6-4B01-B2E7-0758BEE2160E}" type="presOf" srcId="{1A96CDDF-9FCB-4A13-92CC-E5ADFEC094F8}" destId="{229D9479-D9BA-42DA-96E0-8D58E6B9FA5A}" srcOrd="0" destOrd="0" presId="urn:microsoft.com/office/officeart/2005/8/layout/hierarchy1"/>
    <dgm:cxn modelId="{EFEAC5D9-0C6D-4473-84B3-A06B3D25322A}" type="presParOf" srcId="{2605AE6E-2301-465A-BBCD-850063568CB1}" destId="{141FC81A-6DD7-47E0-840C-E256341C2107}" srcOrd="0" destOrd="0" presId="urn:microsoft.com/office/officeart/2005/8/layout/hierarchy1"/>
    <dgm:cxn modelId="{3AAF480A-284B-4C8F-96D8-A5607AB2C53D}" type="presParOf" srcId="{141FC81A-6DD7-47E0-840C-E256341C2107}" destId="{37D5D5D7-4E1C-4C01-AA8C-E1E747C37A36}" srcOrd="0" destOrd="0" presId="urn:microsoft.com/office/officeart/2005/8/layout/hierarchy1"/>
    <dgm:cxn modelId="{596B89BA-ED6E-4AAD-B67A-6A2AB7C2C6F5}" type="presParOf" srcId="{37D5D5D7-4E1C-4C01-AA8C-E1E747C37A36}" destId="{757C90DA-E4E7-46FC-809C-3E0C671BBC1A}" srcOrd="0" destOrd="0" presId="urn:microsoft.com/office/officeart/2005/8/layout/hierarchy1"/>
    <dgm:cxn modelId="{77E8BF95-FA7B-4572-8DEE-B206F89DA4B4}" type="presParOf" srcId="{37D5D5D7-4E1C-4C01-AA8C-E1E747C37A36}" destId="{229D9479-D9BA-42DA-96E0-8D58E6B9FA5A}" srcOrd="1" destOrd="0" presId="urn:microsoft.com/office/officeart/2005/8/layout/hierarchy1"/>
    <dgm:cxn modelId="{E8834902-2765-4C12-8B92-8F6F9505512A}" type="presParOf" srcId="{141FC81A-6DD7-47E0-840C-E256341C2107}" destId="{46104C53-186E-4AEA-BB05-DA8D8DA2ED7F}" srcOrd="1" destOrd="0" presId="urn:microsoft.com/office/officeart/2005/8/layout/hierarchy1"/>
    <dgm:cxn modelId="{782F0579-5E0B-4311-9CB6-7923ABA82780}" type="presParOf" srcId="{2605AE6E-2301-465A-BBCD-850063568CB1}" destId="{A9CAE2EC-FB02-4948-9242-53AE4423531B}" srcOrd="1" destOrd="0" presId="urn:microsoft.com/office/officeart/2005/8/layout/hierarchy1"/>
    <dgm:cxn modelId="{87ABD9B0-BBED-4F08-948E-E6E97679D952}" type="presParOf" srcId="{A9CAE2EC-FB02-4948-9242-53AE4423531B}" destId="{2D80890E-3AD7-43AB-9F39-F38AAA4F5988}" srcOrd="0" destOrd="0" presId="urn:microsoft.com/office/officeart/2005/8/layout/hierarchy1"/>
    <dgm:cxn modelId="{0AC5E7DD-6A51-462A-BBDD-85D6060A5A64}" type="presParOf" srcId="{2D80890E-3AD7-43AB-9F39-F38AAA4F5988}" destId="{C8B8C75F-06D0-462F-82E9-A168245E56A2}" srcOrd="0" destOrd="0" presId="urn:microsoft.com/office/officeart/2005/8/layout/hierarchy1"/>
    <dgm:cxn modelId="{466BBFDA-CF25-41FA-89CD-692F125D366D}" type="presParOf" srcId="{2D80890E-3AD7-43AB-9F39-F38AAA4F5988}" destId="{AD69CA59-B442-455E-9039-6012E1D3B277}" srcOrd="1" destOrd="0" presId="urn:microsoft.com/office/officeart/2005/8/layout/hierarchy1"/>
    <dgm:cxn modelId="{59D732B3-986D-4481-8AA0-7D7B69B33FD4}" type="presParOf" srcId="{A9CAE2EC-FB02-4948-9242-53AE4423531B}" destId="{B88E180A-070A-4753-B20F-EA3EFAEAA617}" srcOrd="1" destOrd="0" presId="urn:microsoft.com/office/officeart/2005/8/layout/hierarchy1"/>
    <dgm:cxn modelId="{209752ED-0BFB-440F-8389-54BD677FEEDB}" type="presParOf" srcId="{2605AE6E-2301-465A-BBCD-850063568CB1}" destId="{9658D1F1-DBB9-4EF4-BA86-9793200BCAF3}" srcOrd="2" destOrd="0" presId="urn:microsoft.com/office/officeart/2005/8/layout/hierarchy1"/>
    <dgm:cxn modelId="{65DCA80B-19B1-4C19-A5DC-1DE830758CE7}" type="presParOf" srcId="{9658D1F1-DBB9-4EF4-BA86-9793200BCAF3}" destId="{8F10B64A-66C2-4A5D-B1FB-2177DB8437B0}" srcOrd="0" destOrd="0" presId="urn:microsoft.com/office/officeart/2005/8/layout/hierarchy1"/>
    <dgm:cxn modelId="{72C351B2-072B-421D-A5B9-56A0C13E5636}" type="presParOf" srcId="{8F10B64A-66C2-4A5D-B1FB-2177DB8437B0}" destId="{BA8297B1-7F56-4FD5-AACA-FFAB8FF97674}" srcOrd="0" destOrd="0" presId="urn:microsoft.com/office/officeart/2005/8/layout/hierarchy1"/>
    <dgm:cxn modelId="{E62E9164-847E-41B6-A0EE-0BEF3C2647FC}" type="presParOf" srcId="{8F10B64A-66C2-4A5D-B1FB-2177DB8437B0}" destId="{5F1F1433-D9D0-4B42-AF29-FA5EFE3209D6}" srcOrd="1" destOrd="0" presId="urn:microsoft.com/office/officeart/2005/8/layout/hierarchy1"/>
    <dgm:cxn modelId="{BD6137FD-F910-43A3-BA9C-036153C0E42F}" type="presParOf" srcId="{9658D1F1-DBB9-4EF4-BA86-9793200BCAF3}" destId="{36DF66C6-9F9A-4E25-A8BA-53E9BA951E9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C90DA-E4E7-46FC-809C-3E0C671BBC1A}">
      <dsp:nvSpPr>
        <dsp:cNvPr id="0" name=""/>
        <dsp:cNvSpPr/>
      </dsp:nvSpPr>
      <dsp:spPr>
        <a:xfrm>
          <a:off x="0" y="611102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D9479-D9BA-42DA-96E0-8D58E6B9FA5A}">
      <dsp:nvSpPr>
        <dsp:cNvPr id="0" name=""/>
        <dsp:cNvSpPr/>
      </dsp:nvSpPr>
      <dsp:spPr>
        <a:xfrm>
          <a:off x="338137" y="932333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project demonstrates route optimization using Dijkstra’s Algorithm. </a:t>
          </a:r>
        </a:p>
      </dsp:txBody>
      <dsp:txXfrm>
        <a:off x="394737" y="988933"/>
        <a:ext cx="2930037" cy="1819255"/>
      </dsp:txXfrm>
    </dsp:sp>
    <dsp:sp modelId="{C8B8C75F-06D0-462F-82E9-A168245E56A2}">
      <dsp:nvSpPr>
        <dsp:cNvPr id="0" name=""/>
        <dsp:cNvSpPr/>
      </dsp:nvSpPr>
      <dsp:spPr>
        <a:xfrm>
          <a:off x="3719512" y="611102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9CA59-B442-455E-9039-6012E1D3B277}">
      <dsp:nvSpPr>
        <dsp:cNvPr id="0" name=""/>
        <dsp:cNvSpPr/>
      </dsp:nvSpPr>
      <dsp:spPr>
        <a:xfrm>
          <a:off x="4057650" y="932333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It finds the most efficient path between locations. </a:t>
          </a:r>
        </a:p>
      </dsp:txBody>
      <dsp:txXfrm>
        <a:off x="4114250" y="988933"/>
        <a:ext cx="2930037" cy="1819255"/>
      </dsp:txXfrm>
    </dsp:sp>
    <dsp:sp modelId="{BA8297B1-7F56-4FD5-AACA-FFAB8FF97674}">
      <dsp:nvSpPr>
        <dsp:cNvPr id="0" name=""/>
        <dsp:cNvSpPr/>
      </dsp:nvSpPr>
      <dsp:spPr>
        <a:xfrm>
          <a:off x="7439025" y="611102"/>
          <a:ext cx="3043237" cy="19324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F1433-D9D0-4B42-AF29-FA5EFE3209D6}">
      <dsp:nvSpPr>
        <dsp:cNvPr id="0" name=""/>
        <dsp:cNvSpPr/>
      </dsp:nvSpPr>
      <dsp:spPr>
        <a:xfrm>
          <a:off x="7777162" y="932333"/>
          <a:ext cx="3043237" cy="19324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It shows how algorithms can support better decision-making in emergencies.</a:t>
          </a:r>
        </a:p>
      </dsp:txBody>
      <dsp:txXfrm>
        <a:off x="7833762" y="988933"/>
        <a:ext cx="2930037" cy="18192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5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00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5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3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563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83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7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4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8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03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3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7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91C9781-1BFB-4400-A1AC-1BEAE6728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B32CAD-5F08-4EE4-B80D-A9E62A650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67818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AF428-C673-85D1-A1D8-67C7E1988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7552" y="1371599"/>
            <a:ext cx="5020236" cy="236042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2"/>
                </a:solidFill>
              </a:rPr>
              <a:t>CrisisAid Route Planner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711A70-BED7-894F-2229-279EA5F34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114800"/>
            <a:ext cx="5410200" cy="137160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Sabrina Abdukadirova &amp; Vrutti Patel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8CEFE72-2FB9-B966-032A-B648E79F05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38" r="40218"/>
          <a:stretch>
            <a:fillRect/>
          </a:stretch>
        </p:blipFill>
        <p:spPr>
          <a:xfrm>
            <a:off x="8153401" y="10"/>
            <a:ext cx="40386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26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EE8294-4110-44EB-8577-6CA8DF797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45E44A-48F0-452E-94AB-C02C0355C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6700" y="685800"/>
            <a:ext cx="7429500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0448D-9356-FAF0-DA44-4B660ADF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2977" y="685800"/>
            <a:ext cx="6096000" cy="936840"/>
          </a:xfrm>
        </p:spPr>
        <p:txBody>
          <a:bodyPr>
            <a:normAutofit/>
          </a:bodyPr>
          <a:lstStyle/>
          <a:p>
            <a:pPr algn="ctr"/>
            <a:r>
              <a:rPr lang="en-US"/>
              <a:t>Project Overview</a:t>
            </a:r>
          </a:p>
        </p:txBody>
      </p:sp>
      <p:pic>
        <p:nvPicPr>
          <p:cNvPr id="5" name="Picture 4" descr="Colorful pins connected with a thread">
            <a:extLst>
              <a:ext uri="{FF2B5EF4-FFF2-40B4-BE49-F238E27FC236}">
                <a16:creationId xmlns:a16="http://schemas.microsoft.com/office/drawing/2014/main" id="{D988C7CD-CFEA-E1F6-CB53-3B65C57693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19" r="42376" b="-1"/>
          <a:stretch>
            <a:fillRect/>
          </a:stretch>
        </p:blipFill>
        <p:spPr>
          <a:xfrm>
            <a:off x="1" y="10"/>
            <a:ext cx="3390899" cy="6857990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E343F8C-5622-0968-6D51-620020161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833" y="1825042"/>
            <a:ext cx="6247233" cy="35355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Web-based application for route planning </a:t>
            </a:r>
          </a:p>
          <a:p>
            <a:r>
              <a:rPr lang="en-US" sz="2800">
                <a:solidFill>
                  <a:schemeClr val="tx1"/>
                </a:solidFill>
                <a:ea typeface="+mj-lt"/>
                <a:cs typeface="+mj-lt"/>
              </a:rPr>
              <a:t>Finds the best route between locations</a:t>
            </a:r>
          </a:p>
          <a:p>
            <a:r>
              <a:rPr lang="en-US" sz="2800">
                <a:solidFill>
                  <a:schemeClr val="tx1"/>
                </a:solidFill>
                <a:ea typeface="+mj-lt"/>
                <a:cs typeface="+mj-lt"/>
              </a:rPr>
              <a:t>Considers Distance, Safety, Road conditions</a:t>
            </a:r>
            <a:endParaRPr lang="en-US" sz="2800">
              <a:solidFill>
                <a:schemeClr val="tx1"/>
              </a:solidFill>
            </a:endParaRPr>
          </a:p>
          <a:p>
            <a:r>
              <a:rPr lang="en-US" sz="2800">
                <a:solidFill>
                  <a:schemeClr val="tx1"/>
                </a:solidFill>
              </a:rPr>
              <a:t>Uses a graph-based model with weighted edges</a:t>
            </a:r>
          </a:p>
          <a:p>
            <a:r>
              <a:rPr lang="en-US" sz="2800">
                <a:solidFill>
                  <a:schemeClr val="tx1"/>
                </a:solidFill>
              </a:rPr>
              <a:t>Focus: distance, risk, and travel cost optimization</a:t>
            </a:r>
          </a:p>
        </p:txBody>
      </p:sp>
    </p:spTree>
    <p:extLst>
      <p:ext uri="{BB962C8B-B14F-4D97-AF65-F5344CB8AC3E}">
        <p14:creationId xmlns:p14="http://schemas.microsoft.com/office/powerpoint/2010/main" val="2484766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D88A92C-0BD1-4D13-9480-9CA5056B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50E0BE-0A13-43E4-9007-A06960852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1"/>
            <a:ext cx="6118275" cy="54864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B1BBE-0177-48C2-91B3-6366DCC83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89" y="914881"/>
            <a:ext cx="5212188" cy="964407"/>
          </a:xfrm>
        </p:spPr>
        <p:txBody>
          <a:bodyPr>
            <a:normAutofit/>
          </a:bodyPr>
          <a:lstStyle/>
          <a:p>
            <a:pPr algn="ctr"/>
            <a:r>
              <a:rPr lang="en-US" sz="3000"/>
              <a:t>Significance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9A210-F28D-C0E4-F024-F5E0FE72C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69" y="2023667"/>
            <a:ext cx="5118965" cy="3754499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2200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cs typeface="Arial"/>
              </a:rPr>
              <a:t>Aid delivery in conflict zones is dangerous and urgent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cs typeface="Arial"/>
              </a:rPr>
              <a:t>Bad routes = delays and risk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cs typeface="Arial"/>
              </a:rPr>
              <a:t>This system:</a:t>
            </a:r>
          </a:p>
          <a:p>
            <a:pPr lvl="2"/>
            <a:r>
              <a:rPr lang="en-US" sz="2000">
                <a:solidFill>
                  <a:schemeClr val="tx1"/>
                </a:solidFill>
                <a:cs typeface="Arial"/>
              </a:rPr>
              <a:t>Reduces risk</a:t>
            </a:r>
          </a:p>
          <a:p>
            <a:pPr lvl="2"/>
            <a:r>
              <a:rPr lang="en-US" sz="2000">
                <a:solidFill>
                  <a:schemeClr val="tx1"/>
                </a:solidFill>
                <a:cs typeface="Arial"/>
              </a:rPr>
              <a:t>Saves time</a:t>
            </a:r>
            <a:endParaRPr lang="en-US" sz="2000">
              <a:solidFill>
                <a:schemeClr val="tx1"/>
              </a:solidFill>
            </a:endParaRPr>
          </a:p>
          <a:p>
            <a:pPr lvl="2"/>
            <a:r>
              <a:rPr lang="en-US" sz="2000">
                <a:solidFill>
                  <a:schemeClr val="tx1"/>
                </a:solidFill>
                <a:cs typeface="Arial"/>
              </a:rPr>
              <a:t>Uses resources efficiently</a:t>
            </a:r>
            <a:endParaRPr lang="en-US" sz="2000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cs typeface="Arial"/>
              </a:rPr>
              <a:t>Shows how algorithms solve real-world problems</a:t>
            </a:r>
            <a:br>
              <a:rPr lang="en-US"/>
            </a:b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/>
          </a:p>
        </p:txBody>
      </p:sp>
      <p:pic>
        <p:nvPicPr>
          <p:cNvPr id="15" name="Picture 14" descr="A world map made of pins and strings">
            <a:extLst>
              <a:ext uri="{FF2B5EF4-FFF2-40B4-BE49-F238E27FC236}">
                <a16:creationId xmlns:a16="http://schemas.microsoft.com/office/drawing/2014/main" id="{DAF053F2-BD0E-3BFA-90B4-58917DB22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31" r="25885" b="-1"/>
          <a:stretch>
            <a:fillRect/>
          </a:stretch>
        </p:blipFill>
        <p:spPr>
          <a:xfrm>
            <a:off x="7467600" y="10"/>
            <a:ext cx="47244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85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route planner&#10;&#10;AI-generated content may be incorrect.">
            <a:extLst>
              <a:ext uri="{FF2B5EF4-FFF2-40B4-BE49-F238E27FC236}">
                <a16:creationId xmlns:a16="http://schemas.microsoft.com/office/drawing/2014/main" id="{C40B5ADA-FA78-5E24-F044-014A4E624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8246" y="373684"/>
            <a:ext cx="9014494" cy="578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97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1CA7196-CAF1-4234-8849-E335F0BCA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7600" y="0"/>
            <a:ext cx="47244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790CD-CAFF-DE11-CC57-2152AFCF5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28" y="239150"/>
            <a:ext cx="3390899" cy="1303606"/>
          </a:xfrm>
        </p:spPr>
        <p:txBody>
          <a:bodyPr>
            <a:normAutofit/>
          </a:bodyPr>
          <a:lstStyle/>
          <a:p>
            <a:pPr algn="ctr"/>
            <a:r>
              <a:rPr lang="en-US"/>
              <a:t>Algorithm Used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E5C9B-9B8F-345D-CADA-2106962CF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89" y="1684020"/>
            <a:ext cx="6096000" cy="34899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20B89-4B5E-EDBC-0A2D-92C17E725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301" y="1814732"/>
            <a:ext cx="3390899" cy="45016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500" b="1"/>
          </a:p>
          <a:p>
            <a:r>
              <a:rPr lang="en-US" sz="2000">
                <a:solidFill>
                  <a:schemeClr val="tx1"/>
                </a:solidFill>
                <a:ea typeface="+mj-lt"/>
                <a:cs typeface="+mj-lt"/>
              </a:rPr>
              <a:t>Uses </a:t>
            </a:r>
            <a:r>
              <a:rPr lang="en-US" sz="2000" b="1">
                <a:solidFill>
                  <a:schemeClr val="tx1"/>
                </a:solidFill>
                <a:ea typeface="+mj-lt"/>
                <a:cs typeface="+mj-lt"/>
              </a:rPr>
              <a:t>Dijkstra’s Algorithm</a:t>
            </a:r>
            <a:endParaRPr lang="en-US" sz="2000">
              <a:solidFill>
                <a:schemeClr val="tx1"/>
              </a:solidFill>
              <a:ea typeface="+mj-lt"/>
              <a:cs typeface="+mj-lt"/>
            </a:endParaRPr>
          </a:p>
          <a:p>
            <a:r>
              <a:rPr lang="en-US" sz="2000">
                <a:solidFill>
                  <a:schemeClr val="tx1"/>
                </a:solidFill>
                <a:ea typeface="+mj-lt"/>
                <a:cs typeface="+mj-lt"/>
              </a:rPr>
              <a:t>Locations = nodes</a:t>
            </a:r>
            <a:endParaRPr lang="en-US" sz="20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  <a:ea typeface="+mj-lt"/>
                <a:cs typeface="+mj-lt"/>
              </a:rPr>
              <a:t>Roads = weighted edges</a:t>
            </a:r>
            <a:endParaRPr lang="en-US" sz="20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  <a:ea typeface="+mj-lt"/>
                <a:cs typeface="+mj-lt"/>
              </a:rPr>
              <a:t>Finds path with </a:t>
            </a:r>
            <a:r>
              <a:rPr lang="en-US" sz="2000" b="1">
                <a:solidFill>
                  <a:schemeClr val="tx1"/>
                </a:solidFill>
                <a:ea typeface="+mj-lt"/>
                <a:cs typeface="+mj-lt"/>
              </a:rPr>
              <a:t>lowest total cost</a:t>
            </a:r>
            <a:endParaRPr lang="en-US" sz="2000">
              <a:solidFill>
                <a:schemeClr val="tx1"/>
              </a:solidFill>
            </a:endParaRPr>
          </a:p>
          <a:p>
            <a:r>
              <a:rPr lang="en-US" sz="2000">
                <a:solidFill>
                  <a:schemeClr val="tx1"/>
                </a:solidFill>
                <a:ea typeface="+mj-lt"/>
                <a:cs typeface="+mj-lt"/>
              </a:rPr>
              <a:t>Cost includes:</a:t>
            </a:r>
          </a:p>
          <a:p>
            <a:pPr lvl="1"/>
            <a:r>
              <a:rPr lang="en-US">
                <a:solidFill>
                  <a:schemeClr val="tx1"/>
                </a:solidFill>
                <a:ea typeface="+mj-lt"/>
                <a:cs typeface="+mj-lt"/>
              </a:rPr>
              <a:t>Distance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ea typeface="+mj-lt"/>
                <a:cs typeface="+mj-lt"/>
              </a:rPr>
              <a:t>Risk</a:t>
            </a:r>
            <a:endParaRPr lang="en-US">
              <a:solidFill>
                <a:schemeClr val="tx1"/>
              </a:solidFill>
            </a:endParaRPr>
          </a:p>
          <a:p>
            <a:pPr lvl="1"/>
            <a:r>
              <a:rPr lang="en-US">
                <a:solidFill>
                  <a:schemeClr val="tx1"/>
                </a:solidFill>
                <a:ea typeface="+mj-lt"/>
                <a:cs typeface="+mj-lt"/>
              </a:rPr>
              <a:t>Difficulty</a:t>
            </a: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347507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8E646A7-D148-4320-A501-0291AA75A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799"/>
            <a:ext cx="10820400" cy="1371601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D6C6D-222C-07EC-4602-34DF1D764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045" y="947223"/>
            <a:ext cx="9394874" cy="928467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CE1992-8611-5B1C-E3BA-2376FC6349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097372"/>
              </p:ext>
            </p:extLst>
          </p:nvPr>
        </p:nvGraphicFramePr>
        <p:xfrm>
          <a:off x="685800" y="2696308"/>
          <a:ext cx="10820400" cy="3475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4060905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Custom 22">
      <a:dk1>
        <a:sysClr val="windowText" lastClr="000000"/>
      </a:dk1>
      <a:lt1>
        <a:sysClr val="window" lastClr="FFFFFF"/>
      </a:lt1>
      <a:dk2>
        <a:srgbClr val="293737"/>
      </a:dk2>
      <a:lt2>
        <a:srgbClr val="EEF2F0"/>
      </a:lt2>
      <a:accent1>
        <a:srgbClr val="749090"/>
      </a:accent1>
      <a:accent2>
        <a:srgbClr val="A5A5A5"/>
      </a:accent2>
      <a:accent3>
        <a:srgbClr val="91A39B"/>
      </a:accent3>
      <a:accent4>
        <a:srgbClr val="A9A698"/>
      </a:accent4>
      <a:accent5>
        <a:srgbClr val="A2A79A"/>
      </a:accent5>
      <a:accent6>
        <a:srgbClr val="897F65"/>
      </a:accent6>
      <a:hlink>
        <a:srgbClr val="92872F"/>
      </a:hlink>
      <a:folHlink>
        <a:srgbClr val="AB73A9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Gill Sans MT</vt:lpstr>
      <vt:lpstr>Goudy Old Style</vt:lpstr>
      <vt:lpstr>ClassicFrameVTI</vt:lpstr>
      <vt:lpstr>CrisisAid Route Planner </vt:lpstr>
      <vt:lpstr>Project Overview</vt:lpstr>
      <vt:lpstr>Significance of the Project</vt:lpstr>
      <vt:lpstr>PowerPoint Presentation</vt:lpstr>
      <vt:lpstr>Algorithm Used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Patel, Vrutti N</dc:creator>
  <cp:lastModifiedBy>Patel, Vrutti N</cp:lastModifiedBy>
  <cp:revision>2</cp:revision>
  <dcterms:created xsi:type="dcterms:W3CDTF">2026-05-01T03:58:25Z</dcterms:created>
  <dcterms:modified xsi:type="dcterms:W3CDTF">2026-05-02T03:47:32Z</dcterms:modified>
</cp:coreProperties>
</file>